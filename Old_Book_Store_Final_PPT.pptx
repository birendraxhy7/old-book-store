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6" r:id="rId1"/>
  </p:sldMasterIdLst>
  <p:sldIdLst>
    <p:sldId id="282" r:id="rId2"/>
    <p:sldId id="297" r:id="rId3"/>
    <p:sldId id="288" r:id="rId4"/>
    <p:sldId id="289" r:id="rId5"/>
    <p:sldId id="290" r:id="rId6"/>
    <p:sldId id="291" r:id="rId7"/>
    <p:sldId id="263" r:id="rId8"/>
    <p:sldId id="271" r:id="rId9"/>
    <p:sldId id="264" r:id="rId10"/>
    <p:sldId id="298" r:id="rId11"/>
    <p:sldId id="272" r:id="rId12"/>
    <p:sldId id="274" r:id="rId13"/>
    <p:sldId id="278" r:id="rId14"/>
    <p:sldId id="275" r:id="rId15"/>
    <p:sldId id="281" r:id="rId16"/>
    <p:sldId id="279" r:id="rId17"/>
    <p:sldId id="280" r:id="rId18"/>
    <p:sldId id="276" r:id="rId19"/>
    <p:sldId id="292" r:id="rId20"/>
    <p:sldId id="293" r:id="rId21"/>
    <p:sldId id="29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9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4F3957-1647-40F9-BBE8-DCA86ACA95B3}" type="doc">
      <dgm:prSet loTypeId="urn:microsoft.com/office/officeart/2005/8/layout/list1#9" loCatId="list" qsTypeId="urn:microsoft.com/office/officeart/2005/8/quickstyle/simple2#9" qsCatId="simple" csTypeId="urn:microsoft.com/office/officeart/2005/8/colors/accent2_2#9" csCatId="accent2"/>
      <dgm:spPr/>
      <dgm:t>
        <a:bodyPr/>
        <a:lstStyle/>
        <a:p>
          <a:endParaRPr lang="en-US"/>
        </a:p>
      </dgm:t>
    </dgm:pt>
    <dgm:pt modelId="{4B2A1C03-3E08-42C5-9A8F-1550705CD3CF}">
      <dgm:prSet/>
      <dgm:spPr/>
      <dgm:t>
        <a:bodyPr/>
        <a:lstStyle/>
        <a:p>
          <a:r>
            <a:rPr lang="en-US" b="1" i="0"/>
            <a:t>Presented by:</a:t>
          </a:r>
          <a:r>
            <a:rPr lang="en-US" b="0" i="0"/>
            <a:t> </a:t>
          </a:r>
          <a:endParaRPr lang="en-US"/>
        </a:p>
      </dgm:t>
    </dgm:pt>
    <dgm:pt modelId="{905789BE-62D8-4881-88E2-398F6FA204ED}" type="parTrans" cxnId="{4D4EC5A0-504F-4CAF-8588-C64EC6F4ADC4}">
      <dgm:prSet/>
      <dgm:spPr/>
      <dgm:t>
        <a:bodyPr/>
        <a:lstStyle/>
        <a:p>
          <a:endParaRPr lang="en-US"/>
        </a:p>
      </dgm:t>
    </dgm:pt>
    <dgm:pt modelId="{97262F2E-9C3E-4D39-AB01-F210DA923076}" type="sibTrans" cxnId="{4D4EC5A0-504F-4CAF-8588-C64EC6F4ADC4}">
      <dgm:prSet/>
      <dgm:spPr/>
      <dgm:t>
        <a:bodyPr/>
        <a:lstStyle/>
        <a:p>
          <a:endParaRPr lang="en-US"/>
        </a:p>
      </dgm:t>
    </dgm:pt>
    <dgm:pt modelId="{B209C7CC-C67D-4653-A813-1B636E60F5F9}">
      <dgm:prSet/>
      <dgm:spPr/>
      <dgm:t>
        <a:bodyPr/>
        <a:lstStyle/>
        <a:p>
          <a:r>
            <a:rPr lang="en-US"/>
            <a:t>Birendra Chaudhary</a:t>
          </a:r>
        </a:p>
      </dgm:t>
    </dgm:pt>
    <dgm:pt modelId="{1143AAC7-4B51-45EC-83C2-955348C6E8AD}" type="parTrans" cxnId="{34FF8C1C-5188-4EAC-AEAC-08CDD0C97030}">
      <dgm:prSet/>
      <dgm:spPr/>
      <dgm:t>
        <a:bodyPr/>
        <a:lstStyle/>
        <a:p>
          <a:endParaRPr lang="en-US"/>
        </a:p>
      </dgm:t>
    </dgm:pt>
    <dgm:pt modelId="{9130F742-7B7B-4628-AFF8-78C520762C5D}" type="sibTrans" cxnId="{34FF8C1C-5188-4EAC-AEAC-08CDD0C97030}">
      <dgm:prSet/>
      <dgm:spPr/>
      <dgm:t>
        <a:bodyPr/>
        <a:lstStyle/>
        <a:p>
          <a:endParaRPr lang="en-US"/>
        </a:p>
      </dgm:t>
    </dgm:pt>
    <dgm:pt modelId="{E3F7C18A-33B7-494C-B845-EE6CF91AEF56}">
      <dgm:prSet/>
      <dgm:spPr/>
      <dgm:t>
        <a:bodyPr/>
        <a:lstStyle/>
        <a:p>
          <a:r>
            <a:rPr lang="en-US" dirty="0"/>
            <a:t>Dilli Raj Bhatta</a:t>
          </a:r>
        </a:p>
      </dgm:t>
    </dgm:pt>
    <dgm:pt modelId="{C91F8475-9445-432F-B858-C4C37880059F}" type="parTrans" cxnId="{2B18F85B-69A8-4B3D-A04E-881CDF4B5141}">
      <dgm:prSet/>
      <dgm:spPr/>
      <dgm:t>
        <a:bodyPr/>
        <a:lstStyle/>
        <a:p>
          <a:endParaRPr lang="en-US"/>
        </a:p>
      </dgm:t>
    </dgm:pt>
    <dgm:pt modelId="{62BE36C8-4326-4107-BA71-19FCFAF44D92}" type="sibTrans" cxnId="{2B18F85B-69A8-4B3D-A04E-881CDF4B5141}">
      <dgm:prSet/>
      <dgm:spPr/>
      <dgm:t>
        <a:bodyPr/>
        <a:lstStyle/>
        <a:p>
          <a:endParaRPr lang="en-US"/>
        </a:p>
      </dgm:t>
    </dgm:pt>
    <dgm:pt modelId="{B8046B5E-F3B4-4C83-824E-3DC7A3408892}">
      <dgm:prSet/>
      <dgm:spPr/>
      <dgm:t>
        <a:bodyPr/>
        <a:lstStyle/>
        <a:p>
          <a:r>
            <a:rPr lang="en-US"/>
            <a:t>Kaustub Pant</a:t>
          </a:r>
        </a:p>
      </dgm:t>
    </dgm:pt>
    <dgm:pt modelId="{7E113C43-AC7D-40E6-869C-CEE90C777B31}" type="parTrans" cxnId="{C5603B19-BC95-4CFB-8B18-E439AD4063B3}">
      <dgm:prSet/>
      <dgm:spPr/>
      <dgm:t>
        <a:bodyPr/>
        <a:lstStyle/>
        <a:p>
          <a:endParaRPr lang="en-US"/>
        </a:p>
      </dgm:t>
    </dgm:pt>
    <dgm:pt modelId="{83A3F2EC-A50B-4446-923F-6064C30A51D7}" type="sibTrans" cxnId="{C5603B19-BC95-4CFB-8B18-E439AD4063B3}">
      <dgm:prSet/>
      <dgm:spPr/>
      <dgm:t>
        <a:bodyPr/>
        <a:lstStyle/>
        <a:p>
          <a:endParaRPr lang="en-US"/>
        </a:p>
      </dgm:t>
    </dgm:pt>
    <dgm:pt modelId="{AFD6302F-F5D8-4F8B-8763-2C2BB05466DF}">
      <dgm:prSet/>
      <dgm:spPr/>
      <dgm:t>
        <a:bodyPr/>
        <a:lstStyle/>
        <a:p>
          <a:r>
            <a:rPr lang="en-US" dirty="0"/>
            <a:t>Santosh Chaudhary</a:t>
          </a:r>
        </a:p>
      </dgm:t>
    </dgm:pt>
    <dgm:pt modelId="{0390A509-34BC-4010-81A1-26A776D35ECE}" type="parTrans" cxnId="{C36DC4B4-0208-4183-BC04-824C5ED2AB3D}">
      <dgm:prSet/>
      <dgm:spPr/>
      <dgm:t>
        <a:bodyPr/>
        <a:lstStyle/>
        <a:p>
          <a:endParaRPr lang="en-US"/>
        </a:p>
      </dgm:t>
    </dgm:pt>
    <dgm:pt modelId="{DBE5C8DE-2E71-45D7-9EE1-D6CDD5C8B514}" type="sibTrans" cxnId="{C36DC4B4-0208-4183-BC04-824C5ED2AB3D}">
      <dgm:prSet/>
      <dgm:spPr/>
      <dgm:t>
        <a:bodyPr/>
        <a:lstStyle/>
        <a:p>
          <a:endParaRPr lang="en-US"/>
        </a:p>
      </dgm:t>
    </dgm:pt>
    <dgm:pt modelId="{47E3F657-8B75-42C8-8947-3B18E2487428}" type="pres">
      <dgm:prSet presAssocID="{774F3957-1647-40F9-BBE8-DCA86ACA95B3}" presName="linear" presStyleCnt="0">
        <dgm:presLayoutVars>
          <dgm:dir/>
          <dgm:animLvl val="lvl"/>
          <dgm:resizeHandles val="exact"/>
        </dgm:presLayoutVars>
      </dgm:prSet>
      <dgm:spPr/>
    </dgm:pt>
    <dgm:pt modelId="{5593DD90-6BCB-46EF-96FF-14CB07C21658}" type="pres">
      <dgm:prSet presAssocID="{4B2A1C03-3E08-42C5-9A8F-1550705CD3CF}" presName="parentLin" presStyleCnt="0"/>
      <dgm:spPr/>
    </dgm:pt>
    <dgm:pt modelId="{6CF6BFFD-25C4-48D6-A671-CCFF8159C7DD}" type="pres">
      <dgm:prSet presAssocID="{4B2A1C03-3E08-42C5-9A8F-1550705CD3CF}" presName="parentLeftMargin" presStyleLbl="node1" presStyleIdx="0" presStyleCnt="1"/>
      <dgm:spPr/>
    </dgm:pt>
    <dgm:pt modelId="{BF27C3AE-5FDE-4A2F-8F4D-A4893AEE2C24}" type="pres">
      <dgm:prSet presAssocID="{4B2A1C03-3E08-42C5-9A8F-1550705CD3C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CF96F977-589D-4402-BC24-76608C48D03B}" type="pres">
      <dgm:prSet presAssocID="{4B2A1C03-3E08-42C5-9A8F-1550705CD3CF}" presName="negativeSpace" presStyleCnt="0"/>
      <dgm:spPr/>
    </dgm:pt>
    <dgm:pt modelId="{BC8626C4-29BF-4EE3-81FA-F232F5CB8B4F}" type="pres">
      <dgm:prSet presAssocID="{4B2A1C03-3E08-42C5-9A8F-1550705CD3CF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5F82EB02-AC3D-497E-9969-FA7BF3C5CCF3}" type="presOf" srcId="{B209C7CC-C67D-4653-A813-1B636E60F5F9}" destId="{BC8626C4-29BF-4EE3-81FA-F232F5CB8B4F}" srcOrd="0" destOrd="0" presId="urn:microsoft.com/office/officeart/2005/8/layout/list1#9"/>
    <dgm:cxn modelId="{C5603B19-BC95-4CFB-8B18-E439AD4063B3}" srcId="{4B2A1C03-3E08-42C5-9A8F-1550705CD3CF}" destId="{B8046B5E-F3B4-4C83-824E-3DC7A3408892}" srcOrd="2" destOrd="0" parTransId="{7E113C43-AC7D-40E6-869C-CEE90C777B31}" sibTransId="{83A3F2EC-A50B-4446-923F-6064C30A51D7}"/>
    <dgm:cxn modelId="{34FF8C1C-5188-4EAC-AEAC-08CDD0C97030}" srcId="{4B2A1C03-3E08-42C5-9A8F-1550705CD3CF}" destId="{B209C7CC-C67D-4653-A813-1B636E60F5F9}" srcOrd="0" destOrd="0" parTransId="{1143AAC7-4B51-45EC-83C2-955348C6E8AD}" sibTransId="{9130F742-7B7B-4628-AFF8-78C520762C5D}"/>
    <dgm:cxn modelId="{9C817924-EB9F-4D3E-9C96-B25CCB90EE6C}" type="presOf" srcId="{E3F7C18A-33B7-494C-B845-EE6CF91AEF56}" destId="{BC8626C4-29BF-4EE3-81FA-F232F5CB8B4F}" srcOrd="0" destOrd="1" presId="urn:microsoft.com/office/officeart/2005/8/layout/list1#9"/>
    <dgm:cxn modelId="{D598C531-6168-4835-9AB9-8E9AF7017D55}" type="presOf" srcId="{774F3957-1647-40F9-BBE8-DCA86ACA95B3}" destId="{47E3F657-8B75-42C8-8947-3B18E2487428}" srcOrd="0" destOrd="0" presId="urn:microsoft.com/office/officeart/2005/8/layout/list1#9"/>
    <dgm:cxn modelId="{2B18F85B-69A8-4B3D-A04E-881CDF4B5141}" srcId="{4B2A1C03-3E08-42C5-9A8F-1550705CD3CF}" destId="{E3F7C18A-33B7-494C-B845-EE6CF91AEF56}" srcOrd="1" destOrd="0" parTransId="{C91F8475-9445-432F-B858-C4C37880059F}" sibTransId="{62BE36C8-4326-4107-BA71-19FCFAF44D92}"/>
    <dgm:cxn modelId="{A6773A6B-CC43-42D7-BADC-E55389B5D4AD}" type="presOf" srcId="{4B2A1C03-3E08-42C5-9A8F-1550705CD3CF}" destId="{BF27C3AE-5FDE-4A2F-8F4D-A4893AEE2C24}" srcOrd="1" destOrd="0" presId="urn:microsoft.com/office/officeart/2005/8/layout/list1#9"/>
    <dgm:cxn modelId="{D3615F8F-F875-4AC5-99AB-4A9D37935AFC}" type="presOf" srcId="{B8046B5E-F3B4-4C83-824E-3DC7A3408892}" destId="{BC8626C4-29BF-4EE3-81FA-F232F5CB8B4F}" srcOrd="0" destOrd="2" presId="urn:microsoft.com/office/officeart/2005/8/layout/list1#9"/>
    <dgm:cxn modelId="{511DE396-F514-4746-8104-FE448A51AC0B}" type="presOf" srcId="{AFD6302F-F5D8-4F8B-8763-2C2BB05466DF}" destId="{BC8626C4-29BF-4EE3-81FA-F232F5CB8B4F}" srcOrd="0" destOrd="3" presId="urn:microsoft.com/office/officeart/2005/8/layout/list1#9"/>
    <dgm:cxn modelId="{4D4EC5A0-504F-4CAF-8588-C64EC6F4ADC4}" srcId="{774F3957-1647-40F9-BBE8-DCA86ACA95B3}" destId="{4B2A1C03-3E08-42C5-9A8F-1550705CD3CF}" srcOrd="0" destOrd="0" parTransId="{905789BE-62D8-4881-88E2-398F6FA204ED}" sibTransId="{97262F2E-9C3E-4D39-AB01-F210DA923076}"/>
    <dgm:cxn modelId="{18F4A5AD-0554-464C-994A-F119C7D49EC1}" type="presOf" srcId="{4B2A1C03-3E08-42C5-9A8F-1550705CD3CF}" destId="{6CF6BFFD-25C4-48D6-A671-CCFF8159C7DD}" srcOrd="0" destOrd="0" presId="urn:microsoft.com/office/officeart/2005/8/layout/list1#9"/>
    <dgm:cxn modelId="{C36DC4B4-0208-4183-BC04-824C5ED2AB3D}" srcId="{4B2A1C03-3E08-42C5-9A8F-1550705CD3CF}" destId="{AFD6302F-F5D8-4F8B-8763-2C2BB05466DF}" srcOrd="3" destOrd="0" parTransId="{0390A509-34BC-4010-81A1-26A776D35ECE}" sibTransId="{DBE5C8DE-2E71-45D7-9EE1-D6CDD5C8B514}"/>
    <dgm:cxn modelId="{68F996D1-9187-419A-86E7-647685AC167F}" type="presParOf" srcId="{47E3F657-8B75-42C8-8947-3B18E2487428}" destId="{5593DD90-6BCB-46EF-96FF-14CB07C21658}" srcOrd="0" destOrd="0" presId="urn:microsoft.com/office/officeart/2005/8/layout/list1#9"/>
    <dgm:cxn modelId="{AD3A8CDB-8094-4F5E-86DC-4600B8E1477A}" type="presParOf" srcId="{5593DD90-6BCB-46EF-96FF-14CB07C21658}" destId="{6CF6BFFD-25C4-48D6-A671-CCFF8159C7DD}" srcOrd="0" destOrd="0" presId="urn:microsoft.com/office/officeart/2005/8/layout/list1#9"/>
    <dgm:cxn modelId="{245FFAEE-DAC3-44EC-BCF3-470D50F0207F}" type="presParOf" srcId="{5593DD90-6BCB-46EF-96FF-14CB07C21658}" destId="{BF27C3AE-5FDE-4A2F-8F4D-A4893AEE2C24}" srcOrd="1" destOrd="0" presId="urn:microsoft.com/office/officeart/2005/8/layout/list1#9"/>
    <dgm:cxn modelId="{649D7DC8-40C5-4539-8C7A-DD5581BC33DE}" type="presParOf" srcId="{47E3F657-8B75-42C8-8947-3B18E2487428}" destId="{CF96F977-589D-4402-BC24-76608C48D03B}" srcOrd="1" destOrd="0" presId="urn:microsoft.com/office/officeart/2005/8/layout/list1#9"/>
    <dgm:cxn modelId="{B052BF40-1668-4B13-8B60-904399EC85AE}" type="presParOf" srcId="{47E3F657-8B75-42C8-8947-3B18E2487428}" destId="{BC8626C4-29BF-4EE3-81FA-F232F5CB8B4F}" srcOrd="2" destOrd="0" presId="urn:microsoft.com/office/officeart/2005/8/layout/list1#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8626C4-29BF-4EE3-81FA-F232F5CB8B4F}">
      <dsp:nvSpPr>
        <dsp:cNvPr id="0" name=""/>
        <dsp:cNvSpPr/>
      </dsp:nvSpPr>
      <dsp:spPr>
        <a:xfrm>
          <a:off x="0" y="499866"/>
          <a:ext cx="5550355" cy="292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0769" tIns="666496" rIns="430769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Birendra Chaudhary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Dilli Raj Bhatta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Kaustub Pant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Santosh Chaudhary</a:t>
          </a:r>
        </a:p>
      </dsp:txBody>
      <dsp:txXfrm>
        <a:off x="0" y="499866"/>
        <a:ext cx="5550355" cy="2923200"/>
      </dsp:txXfrm>
    </dsp:sp>
    <dsp:sp modelId="{BF27C3AE-5FDE-4A2F-8F4D-A4893AEE2C24}">
      <dsp:nvSpPr>
        <dsp:cNvPr id="0" name=""/>
        <dsp:cNvSpPr/>
      </dsp:nvSpPr>
      <dsp:spPr>
        <a:xfrm>
          <a:off x="277517" y="27546"/>
          <a:ext cx="3885248" cy="944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6853" tIns="0" rIns="146853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/>
            <a:t>Presented by:</a:t>
          </a:r>
          <a:r>
            <a:rPr lang="en-US" sz="3200" b="0" i="0" kern="1200"/>
            <a:t> </a:t>
          </a:r>
          <a:endParaRPr lang="en-US" sz="3200" kern="1200"/>
        </a:p>
      </dsp:txBody>
      <dsp:txXfrm>
        <a:off x="323631" y="73660"/>
        <a:ext cx="3793020" cy="852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9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9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10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74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39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67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8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5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79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28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59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50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6785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83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1674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86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1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4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F8D14-DE18-4380-B4FB-35D0849803B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69E6D43-EB2B-42CF-BA8C-0CD79CDD4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5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  <p:sldLayoutId id="2147484077" r:id="rId11"/>
    <p:sldLayoutId id="2147484078" r:id="rId12"/>
    <p:sldLayoutId id="2147484079" r:id="rId13"/>
    <p:sldLayoutId id="2147484080" r:id="rId14"/>
    <p:sldLayoutId id="2147484081" r:id="rId15"/>
    <p:sldLayoutId id="214748408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1886478" y="591727"/>
            <a:ext cx="5550355" cy="1049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chemeClr val="accent1"/>
              </a:buClr>
              <a:buSzPct val="100000"/>
            </a:pPr>
            <a:r>
              <a:rPr lang="en-US" sz="4800" dirty="0"/>
              <a:t>Old Book Store </a:t>
            </a:r>
          </a:p>
        </p:txBody>
      </p:sp>
      <p:pic>
        <p:nvPicPr>
          <p:cNvPr id="21" name="Picture 20" descr="Books on a shelf"/>
          <p:cNvPicPr>
            <a:picLocks noChangeAspect="1"/>
          </p:cNvPicPr>
          <p:nvPr/>
        </p:nvPicPr>
        <p:blipFill>
          <a:blip r:embed="rId2"/>
          <a:srcRect l="27705" r="23968"/>
          <a:stretch>
            <a:fillRect/>
          </a:stretch>
        </p:blipFill>
        <p:spPr>
          <a:xfrm>
            <a:off x="8116373" y="1116345"/>
            <a:ext cx="2862231" cy="3953366"/>
          </a:xfrm>
          <a:prstGeom prst="rect">
            <a:avLst/>
          </a:prstGeom>
        </p:spPr>
      </p:pic>
      <p:graphicFrame>
        <p:nvGraphicFramePr>
          <p:cNvPr id="11" name="TextBox 4">
            <a:extLst>
              <a:ext uri="{FF2B5EF4-FFF2-40B4-BE49-F238E27FC236}">
                <a16:creationId xmlns:a16="http://schemas.microsoft.com/office/drawing/2014/main" id="{061F38A6-83DB-2FF4-F3FC-C5E47A8A5F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2950868"/>
              </p:ext>
            </p:extLst>
          </p:nvPr>
        </p:nvGraphicFramePr>
        <p:xfrm>
          <a:off x="1561470" y="2062508"/>
          <a:ext cx="5550355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5D610-3992-EA2F-55F3-74D2CEED2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467" y="635685"/>
            <a:ext cx="8911687" cy="1280890"/>
          </a:xfrm>
        </p:spPr>
        <p:txBody>
          <a:bodyPr/>
          <a:lstStyle/>
          <a:p>
            <a:r>
              <a:rPr lang="en-US" b="1" dirty="0"/>
              <a:t>Abstract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175623-C08D-F2A8-75CA-1AF934D314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88116" y="1575801"/>
            <a:ext cx="9101218" cy="31957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Old Book Store is a </a:t>
            </a:r>
            <a:r>
              <a:rPr lang="en-US" sz="2000" b="1" dirty="0"/>
              <a:t>web-based platform</a:t>
            </a:r>
            <a:r>
              <a:rPr lang="en-US" sz="2000" dirty="0"/>
              <a:t> for buying and selling used books.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Promotes </a:t>
            </a:r>
            <a:r>
              <a:rPr lang="en-US" sz="2000" b="1" dirty="0"/>
              <a:t>reuse and sustainability</a:t>
            </a:r>
            <a:r>
              <a:rPr lang="en-US" sz="2000" dirty="0"/>
              <a:t>, reducing paper waste.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Users can </a:t>
            </a:r>
            <a:r>
              <a:rPr lang="en-US" sz="2000" b="1" dirty="0"/>
              <a:t>register, list, buy, and communicate</a:t>
            </a:r>
            <a:r>
              <a:rPr lang="en-US" sz="2000" dirty="0"/>
              <a:t> with others easily.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Admin monitors books, users, and transactions.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Built with </a:t>
            </a:r>
            <a:r>
              <a:rPr lang="en-US" sz="2000" b="1" dirty="0"/>
              <a:t>Python Flask</a:t>
            </a:r>
            <a:r>
              <a:rPr lang="en-US" sz="2000" dirty="0"/>
              <a:t>, </a:t>
            </a:r>
            <a:r>
              <a:rPr lang="en-US" sz="2000" b="1" dirty="0"/>
              <a:t>MySQL</a:t>
            </a:r>
            <a:r>
              <a:rPr lang="en-US" sz="2000" dirty="0"/>
              <a:t>, </a:t>
            </a:r>
            <a:r>
              <a:rPr lang="en-US" sz="2000" b="1" dirty="0"/>
              <a:t>HTML</a:t>
            </a:r>
            <a:r>
              <a:rPr lang="en-US" sz="2000" dirty="0"/>
              <a:t>, and </a:t>
            </a:r>
            <a:r>
              <a:rPr lang="en-US" sz="2000" b="1" dirty="0"/>
              <a:t>CSS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Demonstrates sustainable and efficient online book trading.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40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CA3CE-CA57-2195-D298-40D69DFE8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295" y="624110"/>
            <a:ext cx="8911687" cy="1280890"/>
          </a:xfrm>
        </p:spPr>
        <p:txBody>
          <a:bodyPr/>
          <a:lstStyle/>
          <a:p>
            <a:r>
              <a:rPr lang="en-US" b="1" dirty="0"/>
              <a:t>Chapter1:Introduction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6B914-8885-4B97-04ED-E878CCE22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2339" y="1469984"/>
            <a:ext cx="9779984" cy="476390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000" b="1" dirty="0"/>
              <a:t>Background: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digital era has changed book trading; traditional bookstores face limits.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Online systems solve space, access, and cost issues.</a:t>
            </a:r>
          </a:p>
          <a:p>
            <a:pPr>
              <a:buNone/>
            </a:pPr>
            <a:r>
              <a:rPr lang="en-US" sz="2000" b="1" dirty="0"/>
              <a:t>Objectives: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Build user-friendly old book trading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Secure login, </a:t>
            </a:r>
            <a:r>
              <a:rPr lang="en-US" sz="2000" dirty="0" err="1"/>
              <a:t>wishlist</a:t>
            </a:r>
            <a:r>
              <a:rPr lang="en-US" sz="2000" dirty="0"/>
              <a:t>, messaging, and admin dashboard.</a:t>
            </a:r>
          </a:p>
          <a:p>
            <a:pPr>
              <a:buNone/>
            </a:pPr>
            <a:r>
              <a:rPr lang="en-US" sz="2000" b="1" dirty="0"/>
              <a:t>Scope &amp; Applicability: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Web-based platform for community/college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Simulated payments only (no real gateway).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Useful for academic and local book exchange.</a:t>
            </a:r>
          </a:p>
          <a:p>
            <a:pPr>
              <a:buNone/>
            </a:pPr>
            <a:r>
              <a:rPr lang="en-US" sz="2000" b="1" dirty="0"/>
              <a:t>Achievements: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Fully functional prototype with secure login, book uploads, and admin panel.</a:t>
            </a:r>
          </a:p>
        </p:txBody>
      </p:sp>
    </p:spTree>
    <p:extLst>
      <p:ext uri="{BB962C8B-B14F-4D97-AF65-F5344CB8AC3E}">
        <p14:creationId xmlns:p14="http://schemas.microsoft.com/office/powerpoint/2010/main" val="820511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677E6-A359-9E92-59D3-E87A33416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1593" y="598132"/>
            <a:ext cx="8911687" cy="1280890"/>
          </a:xfrm>
        </p:spPr>
        <p:txBody>
          <a:bodyPr/>
          <a:lstStyle/>
          <a:p>
            <a:r>
              <a:rPr lang="en-US" b="1" dirty="0"/>
              <a:t>Chapter 2: Survey of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01081-97E4-6454-BE19-83AD39532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3995" y="1574157"/>
            <a:ext cx="9444318" cy="43717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b="1" dirty="0"/>
              <a:t>Purpose:</a:t>
            </a:r>
            <a:r>
              <a:rPr lang="en-US" sz="2000" dirty="0"/>
              <a:t> Review similar systems and tools for book exchange.</a:t>
            </a:r>
          </a:p>
          <a:p>
            <a:pPr>
              <a:buNone/>
            </a:pPr>
            <a:r>
              <a:rPr lang="en-US" sz="2000" b="1" dirty="0"/>
              <a:t>Reviewed Works: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/>
              <a:t>ReBook</a:t>
            </a:r>
            <a:r>
              <a:rPr lang="en-US" sz="2000" b="1" dirty="0"/>
              <a:t>:</a:t>
            </a:r>
            <a:r>
              <a:rPr lang="en-US" sz="2000" dirty="0"/>
              <a:t> PHP/MySQL system for college-level exchange.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Django-based Online Bookstore:</a:t>
            </a:r>
            <a:r>
              <a:rPr lang="en-US" sz="2000" dirty="0"/>
              <a:t> Python web framework with admin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OLX &amp; </a:t>
            </a:r>
            <a:r>
              <a:rPr lang="en-US" sz="2000" b="1" dirty="0" err="1"/>
              <a:t>Quikr</a:t>
            </a:r>
            <a:r>
              <a:rPr lang="en-US" sz="2000" b="1" dirty="0"/>
              <a:t>:</a:t>
            </a:r>
            <a:r>
              <a:rPr lang="en-US" sz="2000" dirty="0"/>
              <a:t> General resale platforms lacking structured book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E-Library Model:</a:t>
            </a:r>
            <a:r>
              <a:rPr lang="en-US" sz="2000" dirty="0"/>
              <a:t> For schools; limited scalability.</a:t>
            </a:r>
          </a:p>
          <a:p>
            <a:pPr>
              <a:buNone/>
            </a:pPr>
            <a:r>
              <a:rPr lang="en-US" sz="2000" b="1" dirty="0"/>
              <a:t>Conclusion: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Need for a dedicated, scalable, sustainable old-book trading platform.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7184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420C9-0D8A-D54E-3DB3-D9400E1DA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6681" y="624111"/>
            <a:ext cx="8911687" cy="1280890"/>
          </a:xfrm>
        </p:spPr>
        <p:txBody>
          <a:bodyPr/>
          <a:lstStyle/>
          <a:p>
            <a:r>
              <a:rPr lang="en-US" b="1" dirty="0"/>
              <a:t>Chapter 3: Requirements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D3C0D-C656-34CA-4700-F2B59715F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983" y="1404394"/>
            <a:ext cx="10640651" cy="482949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b="1" dirty="0"/>
              <a:t>Problem Definition: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No structured, accessible system for second-hand books.</a:t>
            </a:r>
          </a:p>
          <a:p>
            <a:pPr>
              <a:buNone/>
            </a:pPr>
            <a:r>
              <a:rPr lang="en-US" sz="2000" b="1" dirty="0"/>
              <a:t>Functional Requirements: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User registration/login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Book listing/search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Wishlist, order &amp; messaging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Admin panel for monitoring</a:t>
            </a:r>
          </a:p>
          <a:p>
            <a:pPr>
              <a:buNone/>
            </a:pPr>
            <a:r>
              <a:rPr lang="en-US" sz="2000" b="1" dirty="0"/>
              <a:t>Non-Functional Requirements: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Reliability, security, responsive UI, and data integrity</a:t>
            </a:r>
          </a:p>
          <a:p>
            <a:pPr>
              <a:buNone/>
            </a:pPr>
            <a:r>
              <a:rPr lang="en-US" sz="2000" b="1" dirty="0"/>
              <a:t>System Requirements: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Hardware:</a:t>
            </a:r>
            <a:r>
              <a:rPr lang="en-US" sz="2000" dirty="0"/>
              <a:t> i3 processor, 4GB 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Software:</a:t>
            </a:r>
            <a:r>
              <a:rPr lang="en-US" sz="2000" dirty="0"/>
              <a:t> Windows/Linux, Flask, MySQL, VS Code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92262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B4CF0-8416-8990-F9FB-947C37EF5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892" y="612537"/>
            <a:ext cx="8911687" cy="1280890"/>
          </a:xfrm>
        </p:spPr>
        <p:txBody>
          <a:bodyPr/>
          <a:lstStyle/>
          <a:p>
            <a:r>
              <a:rPr lang="en-US" b="1" dirty="0"/>
              <a:t>Chapter 4: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A6910-584B-FA5A-8260-2DC7F6722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3416" y="1651949"/>
            <a:ext cx="8915400" cy="377762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/>
              <a:t>Purpose:</a:t>
            </a:r>
            <a:r>
              <a:rPr lang="en-US" sz="2400" dirty="0"/>
              <a:t> Define structure and UI of the system.</a:t>
            </a:r>
          </a:p>
          <a:p>
            <a:pPr>
              <a:buNone/>
            </a:pPr>
            <a:r>
              <a:rPr lang="en-US" sz="2400" b="1" dirty="0"/>
              <a:t>Components: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b="1" dirty="0"/>
              <a:t>System Architecture:</a:t>
            </a:r>
            <a:r>
              <a:rPr lang="en-US" sz="2400" dirty="0"/>
              <a:t> Client–Server model using Flask &amp; MySQL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Database Design:</a:t>
            </a:r>
            <a:r>
              <a:rPr lang="en-US" sz="2400" dirty="0"/>
              <a:t> ER diagram defining relationships between users, books, and orders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Interface Design:</a:t>
            </a:r>
            <a:endParaRPr lang="en-US" sz="24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User pages: Home, Login, Buy, Sell, Wishlist, Orders, Messages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/>
              <a:t>Admin pages: Dashboard, User/Book/Payment management</a:t>
            </a:r>
          </a:p>
          <a:p>
            <a:pPr>
              <a:buNone/>
            </a:pPr>
            <a:r>
              <a:rPr lang="en-US" sz="2400" b="1" dirty="0"/>
              <a:t>Goal:</a:t>
            </a:r>
            <a:r>
              <a:rPr lang="en-US" sz="2400" dirty="0"/>
              <a:t> Scalable, modular, and easy-to-use design.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38810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 i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rPr>
              <a:t>System Design Overview</a:t>
            </a:r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9225" y="2133600"/>
            <a:ext cx="3650278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panose="05040102010807070707" charset="2"/>
              <a:buChar char=""/>
            </a:pPr>
            <a:r>
              <a:rPr lang="en-US" sz="20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System Architecture:</a:t>
            </a:r>
            <a:r>
              <a:rPr lang="en-US" sz="2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 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431" y="1375603"/>
            <a:ext cx="7681344" cy="4685620"/>
          </a:xfrm>
          <a:prstGeom prst="rect">
            <a:avLst/>
          </a:prstGeom>
        </p:spPr>
      </p:pic>
      <p:sp>
        <p:nvSpPr>
          <p:cNvPr id="18" name="Freeform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1188" y="601807"/>
            <a:ext cx="8911687" cy="1280890"/>
          </a:xfrm>
        </p:spPr>
        <p:txBody>
          <a:bodyPr/>
          <a:lstStyle/>
          <a:p>
            <a:r>
              <a:rPr lang="en-US" b="1" dirty="0"/>
              <a:t>Database Design</a:t>
            </a:r>
            <a:endParaRPr lang="en-US" dirty="0"/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FCC565C8-FE41-6424-6C49-DFEE8BE36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8978" y="1330000"/>
            <a:ext cx="7462377" cy="50421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8AC0C9-FF3D-EA56-5A41-B989D2DC7AF2}"/>
              </a:ext>
            </a:extLst>
          </p:cNvPr>
          <p:cNvSpPr txBox="1"/>
          <p:nvPr/>
        </p:nvSpPr>
        <p:spPr>
          <a:xfrm>
            <a:off x="649224" y="3546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User Interface</a:t>
            </a:r>
            <a:endParaRPr lang="en-US" sz="36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375D6-3ABA-96C5-2EE9-09C99A993E23}"/>
              </a:ext>
            </a:extLst>
          </p:cNvPr>
          <p:cNvSpPr txBox="1"/>
          <p:nvPr/>
        </p:nvSpPr>
        <p:spPr>
          <a:xfrm>
            <a:off x="649225" y="1464527"/>
            <a:ext cx="3650278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Home Page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B829C5-4977-75F1-B618-47125558D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659" y="1969892"/>
            <a:ext cx="8794242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94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AA26D-0FB2-6298-ED3C-A6BF00C59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04EABA8-ED66-CA42-3FD7-CB9679BA2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D887F-E802-39E1-008E-0BD1CB0CA82E}"/>
              </a:ext>
            </a:extLst>
          </p:cNvPr>
          <p:cNvSpPr txBox="1"/>
          <p:nvPr/>
        </p:nvSpPr>
        <p:spPr>
          <a:xfrm>
            <a:off x="649224" y="3546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User Interface</a:t>
            </a:r>
            <a:endParaRPr lang="en-US" sz="36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47A1B9-A29B-748F-59A5-470588982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495A57-EC6F-625C-D461-32AEF2E96155}"/>
              </a:ext>
            </a:extLst>
          </p:cNvPr>
          <p:cNvSpPr txBox="1"/>
          <p:nvPr/>
        </p:nvSpPr>
        <p:spPr>
          <a:xfrm>
            <a:off x="649225" y="1464527"/>
            <a:ext cx="3650278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Home Page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Freeform 11">
            <a:extLst>
              <a:ext uri="{FF2B5EF4-FFF2-40B4-BE49-F238E27FC236}">
                <a16:creationId xmlns:a16="http://schemas.microsoft.com/office/drawing/2014/main" id="{542E40CC-3CF7-6643-0AB5-3EFE74775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8192A8-89CD-09D4-3EBC-C390352A2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659" y="1969892"/>
            <a:ext cx="8794242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520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5FB53-498F-CA5D-C781-F0961E413C99}"/>
              </a:ext>
            </a:extLst>
          </p:cNvPr>
          <p:cNvSpPr txBox="1"/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User Interface</a:t>
            </a:r>
            <a:endParaRPr lang="en-US" sz="3600" b="1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FF9368-32C6-B677-A1F3-2EB783CF423E}"/>
              </a:ext>
            </a:extLst>
          </p:cNvPr>
          <p:cNvSpPr txBox="1"/>
          <p:nvPr/>
        </p:nvSpPr>
        <p:spPr>
          <a:xfrm>
            <a:off x="809245" y="1546606"/>
            <a:ext cx="3650278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Login Page: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pic>
        <p:nvPicPr>
          <p:cNvPr id="7" name="Picture 6" descr="A screenshot of a login screen&#10;&#10;AI-generated content may be incorrect.">
            <a:extLst>
              <a:ext uri="{FF2B5EF4-FFF2-40B4-BE49-F238E27FC236}">
                <a16:creationId xmlns:a16="http://schemas.microsoft.com/office/drawing/2014/main" id="{442D1FC2-C016-727F-0F94-58CA689B1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806" y="1395425"/>
            <a:ext cx="6953577" cy="5023959"/>
          </a:xfrm>
          <a:prstGeom prst="rect">
            <a:avLst/>
          </a:prstGeom>
        </p:spPr>
      </p:pic>
      <p:sp>
        <p:nvSpPr>
          <p:cNvPr id="20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46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05181-7C92-F75D-020F-5743B54E7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1D439D7-450D-D564-6DC3-B54581C9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B26F8-DE0A-F90F-EC84-6005E23739B1}"/>
              </a:ext>
            </a:extLst>
          </p:cNvPr>
          <p:cNvSpPr txBox="1"/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User Interface</a:t>
            </a:r>
            <a:endParaRPr lang="en-US" sz="3600" b="1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025F15-BCF8-D948-3B9E-E2869223B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C515F3-CD76-769F-13C0-449A86430453}"/>
              </a:ext>
            </a:extLst>
          </p:cNvPr>
          <p:cNvSpPr txBox="1"/>
          <p:nvPr/>
        </p:nvSpPr>
        <p:spPr>
          <a:xfrm>
            <a:off x="809245" y="1546606"/>
            <a:ext cx="3650278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dirty="0"/>
              <a:t>Registration Page</a:t>
            </a:r>
            <a:r>
              <a:rPr lang="en-US" dirty="0"/>
              <a:t> </a:t>
            </a: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: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73D4AB6C-A4F4-0EB5-F335-256B71124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4B8416-228D-6BE7-0D69-AC9713F2B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451" y="1997469"/>
            <a:ext cx="8193132" cy="431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49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D6267-B209-AD49-3077-6A1E395C2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AB1F549-0B23-5D73-2F51-114056BA2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ABFFC-88B2-4214-6A5D-31145A3F2434}"/>
              </a:ext>
            </a:extLst>
          </p:cNvPr>
          <p:cNvSpPr txBox="1"/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User Interface</a:t>
            </a:r>
            <a:endParaRPr lang="en-US" sz="3600" b="1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B3C8D5-13B5-A4A0-7B33-F5A12029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6F930-5E68-F533-95DB-FB813B2F09CE}"/>
              </a:ext>
            </a:extLst>
          </p:cNvPr>
          <p:cNvSpPr txBox="1"/>
          <p:nvPr/>
        </p:nvSpPr>
        <p:spPr>
          <a:xfrm>
            <a:off x="809245" y="1546606"/>
            <a:ext cx="3650278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Book Listed Page: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D4A4A163-6D81-225A-EAE0-70EC2C4B5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CBBC8A-229E-D840-1B73-7A24E35E7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911" y="2247797"/>
            <a:ext cx="7590178" cy="23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09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9ED61-4BB9-7A04-814E-A7B2231F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2077DC-DC31-C456-BC43-823D3335E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71443-18F5-06B9-0C0B-41ECFB2710E6}"/>
              </a:ext>
            </a:extLst>
          </p:cNvPr>
          <p:cNvSpPr txBox="1"/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User Interface</a:t>
            </a:r>
            <a:endParaRPr lang="en-US" sz="3600" b="1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0FDBE4-5DD8-8910-8617-E6AE48703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57E55-282E-0AD2-A36B-8EB9935B345F}"/>
              </a:ext>
            </a:extLst>
          </p:cNvPr>
          <p:cNvSpPr txBox="1"/>
          <p:nvPr/>
        </p:nvSpPr>
        <p:spPr>
          <a:xfrm>
            <a:off x="809245" y="1546607"/>
            <a:ext cx="3650278" cy="3583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dirty="0"/>
              <a:t>Selling Page:</a:t>
            </a:r>
            <a:r>
              <a:rPr lang="en-US" dirty="0"/>
              <a:t> 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49E22BE0-FCAE-5511-D9F3-5BD412300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98910E-5280-7E69-9D13-D13AECB65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234" y="1905000"/>
            <a:ext cx="9629521" cy="485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507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2435E-F23F-4B37-597F-E0F3864DB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FA45C01-2799-CDD2-7E0D-E4BD6D1E0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27DDC9-F965-A0DE-465C-23B01F558600}"/>
              </a:ext>
            </a:extLst>
          </p:cNvPr>
          <p:cNvSpPr txBox="1"/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User Interface</a:t>
            </a:r>
            <a:endParaRPr lang="en-US" sz="3600" b="1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484A1C-3B12-8D5E-4BEB-54467682C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FFEE06-53AB-6054-1A33-299137254711}"/>
              </a:ext>
            </a:extLst>
          </p:cNvPr>
          <p:cNvSpPr txBox="1"/>
          <p:nvPr/>
        </p:nvSpPr>
        <p:spPr>
          <a:xfrm>
            <a:off x="809245" y="1546607"/>
            <a:ext cx="3650278" cy="3583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dirty="0"/>
              <a:t>Order Page:</a:t>
            </a:r>
            <a:r>
              <a:rPr lang="en-US" dirty="0"/>
              <a:t> 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A3AAD8FA-B124-949D-3DD0-EF7F2000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61DDA-DC86-2342-F8C4-9E67BD8E0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896" y="1905000"/>
            <a:ext cx="8794242" cy="441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956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1028F2-0F3F-35F2-1B40-B09D2D59E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11B4690-6B27-2BDC-552F-57969353F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C61A84-67FF-62C3-C328-4AEA1354ED72}"/>
              </a:ext>
            </a:extLst>
          </p:cNvPr>
          <p:cNvSpPr txBox="1"/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User Interface</a:t>
            </a:r>
            <a:endParaRPr lang="en-US" sz="3600" b="1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B708FC-855F-B6AA-593B-D8AC0C1AF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70CACC-5C26-FB59-1F30-04E1B8F0AF9D}"/>
              </a:ext>
            </a:extLst>
          </p:cNvPr>
          <p:cNvSpPr txBox="1"/>
          <p:nvPr/>
        </p:nvSpPr>
        <p:spPr>
          <a:xfrm>
            <a:off x="809245" y="1546607"/>
            <a:ext cx="3650278" cy="3583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dirty="0"/>
              <a:t>Wishlist Page</a:t>
            </a:r>
            <a:r>
              <a:rPr lang="en-US" dirty="0"/>
              <a:t> 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0F1A8A72-14C0-488D-F968-6E7CB3910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FB3DD8-F629-E59C-89E6-E00F53E85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799" y="2130618"/>
            <a:ext cx="8794242" cy="418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607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56BAA4-49FB-2E53-2043-29BED9A6A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2355013-A9AC-9197-F5A0-5FE6FE5C8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183AE-214C-FABB-3F85-D5D5844A6B0B}"/>
              </a:ext>
            </a:extLst>
          </p:cNvPr>
          <p:cNvSpPr txBox="1"/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User Interface</a:t>
            </a:r>
            <a:endParaRPr lang="en-US" sz="3600" b="1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F1CD23-8008-3784-E381-99D386BE5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A7AC77-63DB-DEB7-FF70-3E1E6C84E615}"/>
              </a:ext>
            </a:extLst>
          </p:cNvPr>
          <p:cNvSpPr txBox="1"/>
          <p:nvPr/>
        </p:nvSpPr>
        <p:spPr>
          <a:xfrm>
            <a:off x="809245" y="1546607"/>
            <a:ext cx="3650278" cy="3583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dirty="0"/>
              <a:t>Checkout</a:t>
            </a:r>
            <a:r>
              <a:rPr lang="en-US" dirty="0"/>
              <a:t> </a:t>
            </a:r>
            <a:endParaRPr lang="en-US" b="0" i="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6745CEA2-9FE2-CFF0-DFFF-DAB328242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F8B84F-A2B4-9918-BD2C-391CABE03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439" y="1725804"/>
            <a:ext cx="9483702" cy="448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3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CE838-1048-C5F8-A6B6-CFC9F9CD1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C00745-E07C-06B7-C49F-4163292F3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13B06D-6216-B02E-F687-ADD2B194D71D}"/>
              </a:ext>
            </a:extLst>
          </p:cNvPr>
          <p:cNvSpPr txBox="1"/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User Interface</a:t>
            </a:r>
            <a:endParaRPr lang="en-US" sz="3600" b="1" i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7A06D6C-E450-DFF8-76DD-753B74635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C27ED5-B838-A3F0-C9B8-D84E13B995DB}"/>
              </a:ext>
            </a:extLst>
          </p:cNvPr>
          <p:cNvSpPr txBox="1"/>
          <p:nvPr/>
        </p:nvSpPr>
        <p:spPr>
          <a:xfrm>
            <a:off x="809245" y="1546606"/>
            <a:ext cx="3650278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Font typeface="Wingdings 3" charset="2"/>
              <a:buChar char=""/>
            </a:pPr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Admin Page</a:t>
            </a: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C8581706-88AB-05D5-A635-9F4EAC546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183501-D820-F252-D1E1-7B770C7C1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963" y="1934315"/>
            <a:ext cx="9901792" cy="427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748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A41B6-E033-CBE4-CF71-DD6653582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845" y="613950"/>
            <a:ext cx="8911687" cy="1280890"/>
          </a:xfrm>
        </p:spPr>
        <p:txBody>
          <a:bodyPr/>
          <a:lstStyle/>
          <a:p>
            <a:r>
              <a:rPr lang="en-US" b="1" dirty="0"/>
              <a:t>Chapter 5: Implementation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31785-7237-7093-8416-B64EB642B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8161" y="1446835"/>
            <a:ext cx="10052740" cy="500476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Implementation: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Developed in Python Flask (MVC structure)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HTML/CSS/JS for 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MySQL database</a:t>
            </a:r>
          </a:p>
          <a:p>
            <a:pPr>
              <a:buNone/>
            </a:pPr>
            <a:r>
              <a:rPr lang="en-US" b="1" dirty="0"/>
              <a:t>Testing Phases: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Unit Testing:</a:t>
            </a:r>
            <a:r>
              <a:rPr lang="en-US" dirty="0"/>
              <a:t> Individual module verification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Integration Testing:</a:t>
            </a:r>
            <a:r>
              <a:rPr lang="en-US" dirty="0"/>
              <a:t> Module interaction verification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Beta Testing:</a:t>
            </a:r>
            <a:r>
              <a:rPr lang="en-US" dirty="0"/>
              <a:t> User feedback for UI and performance</a:t>
            </a:r>
          </a:p>
          <a:p>
            <a:pPr>
              <a:buNone/>
            </a:pPr>
            <a:r>
              <a:rPr lang="en-US" b="1" dirty="0"/>
              <a:t>Improvements: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Dynamic admin panel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verification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Password reset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Optimized database performance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91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F2D2-3979-61D4-E01E-F6AE57F4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525" y="624110"/>
            <a:ext cx="8911687" cy="1280890"/>
          </a:xfrm>
        </p:spPr>
        <p:txBody>
          <a:bodyPr/>
          <a:lstStyle/>
          <a:p>
            <a:r>
              <a:rPr lang="en-US" b="1" dirty="0"/>
              <a:t>Chapter 6: 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85779-6B5B-425F-E36D-655567229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833" y="1468316"/>
            <a:ext cx="9838481" cy="497711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b="1" dirty="0"/>
              <a:t>Performance Results: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All test cases passed successfully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Stable performance under normal 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Secure login and data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CRUD operations for books and orders worked correctly</a:t>
            </a:r>
          </a:p>
          <a:p>
            <a:pPr>
              <a:buNone/>
            </a:pPr>
            <a:r>
              <a:rPr lang="en-US" sz="2000" b="1" dirty="0"/>
              <a:t>User Guide: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Registration/Login:</a:t>
            </a:r>
            <a:r>
              <a:rPr lang="en-US" sz="2000" dirty="0"/>
              <a:t> Verify via email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Buying:</a:t>
            </a:r>
            <a:r>
              <a:rPr lang="en-US" sz="2000" dirty="0"/>
              <a:t> Search → Checkout → Simulated payment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Selling:</a:t>
            </a:r>
            <a:r>
              <a:rPr lang="en-US" sz="2000" dirty="0"/>
              <a:t> Upload book details &amp; image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Wishlist:</a:t>
            </a:r>
            <a:r>
              <a:rPr lang="en-US" sz="2000" dirty="0"/>
              <a:t> Save/remove books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Messaging:</a:t>
            </a:r>
            <a:r>
              <a:rPr lang="en-US" sz="2000" dirty="0"/>
              <a:t> Buyer-seller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Admin:</a:t>
            </a:r>
            <a:r>
              <a:rPr lang="en-US" sz="2000" dirty="0"/>
              <a:t> Manage users, books, and payments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6858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73603-005C-9D5B-F2D8-4D6314F8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531" y="624110"/>
            <a:ext cx="10625559" cy="1280890"/>
          </a:xfrm>
        </p:spPr>
        <p:txBody>
          <a:bodyPr/>
          <a:lstStyle/>
          <a:p>
            <a:r>
              <a:rPr lang="en-US" b="1" dirty="0"/>
              <a:t>Chapter 7: Conclusion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C3C9D-D116-A9B4-F333-33E5B80CF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7706" y="1551008"/>
            <a:ext cx="10682384" cy="499203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600" b="1" dirty="0"/>
              <a:t>Conclusion: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Developed a user-friendly, sustainable old-book marketplace.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Promotes reuse and affordable access to books.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Built using Flask, MySQL, HTML, and CSS.</a:t>
            </a:r>
          </a:p>
          <a:p>
            <a:pPr>
              <a:buNone/>
            </a:pPr>
            <a:r>
              <a:rPr lang="en-US" sz="1600" b="1" dirty="0"/>
              <a:t>Significance: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Environmental – reduces paper waste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Economic – low-cost learning materials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Educational – practical web development example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Technical – scalable Flask-based MVC application</a:t>
            </a:r>
          </a:p>
          <a:p>
            <a:pPr>
              <a:buNone/>
            </a:pPr>
            <a:r>
              <a:rPr lang="en-US" sz="1600" b="1" dirty="0"/>
              <a:t>Future Recommendations:</a:t>
            </a: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dirty="0"/>
              <a:t>Integrate real payment gateways (</a:t>
            </a:r>
            <a:r>
              <a:rPr lang="en-US" sz="1600" dirty="0" err="1"/>
              <a:t>eSewa</a:t>
            </a:r>
            <a:r>
              <a:rPr lang="en-US" sz="1600" dirty="0"/>
              <a:t>, Khalti, Stripe)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Add delivery tracking and logistics system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Develop mobile app version (Flutter/React Native)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Implement real-time chat and push notifications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Strengthen data security (2FA, encryption)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5599589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275</TotalTime>
  <Words>705</Words>
  <Application>Microsoft Office PowerPoint</Application>
  <PresentationFormat>Widescreen</PresentationFormat>
  <Paragraphs>123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Wisp</vt:lpstr>
      <vt:lpstr>Old Book Store </vt:lpstr>
      <vt:lpstr>Abstract </vt:lpstr>
      <vt:lpstr>Chapter1:Introduction</vt:lpstr>
      <vt:lpstr>Chapter 2: Survey of Technologies</vt:lpstr>
      <vt:lpstr>Chapter 3: Requirements and Analysis</vt:lpstr>
      <vt:lpstr>Chapter 4: Design</vt:lpstr>
      <vt:lpstr>PowerPoint Presentation</vt:lpstr>
      <vt:lpstr>Database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Chapter 5: Implementation and Testing</vt:lpstr>
      <vt:lpstr>Chapter 6: Results and Discussion</vt:lpstr>
      <vt:lpstr>Chapter 7: Conclusion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Shushila Bhatta</dc:creator>
  <cp:lastModifiedBy>Birendra Chaudhary</cp:lastModifiedBy>
  <cp:revision>10</cp:revision>
  <dcterms:created xsi:type="dcterms:W3CDTF">2025-06-26T11:39:53Z</dcterms:created>
  <dcterms:modified xsi:type="dcterms:W3CDTF">2025-11-14T06:37:40Z</dcterms:modified>
</cp:coreProperties>
</file>